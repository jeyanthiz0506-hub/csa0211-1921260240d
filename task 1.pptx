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599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5980" y="734060"/>
            <a:ext cx="584835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1" b="1" sz="1600">
                <a:solidFill>
                  <a:srgbClr val="000000"/>
                </a:solidFill>
                <a:latin typeface="Roboto"/>
              </a:rPr>
              <a:t>TASK 1 – UNDERSTAND THE PROBLEM AND IDENTIFY THE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97579" y="988060"/>
            <a:ext cx="56515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9" b="1" sz="1600">
                <a:solidFill>
                  <a:srgbClr val="000000"/>
                </a:solidFill>
                <a:latin typeface="Roboto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6290" y="1375410"/>
            <a:ext cx="1454149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3" b="1" sz="950">
                <a:solidFill>
                  <a:srgbClr val="000000"/>
                </a:solidFill>
                <a:latin typeface="Roboto"/>
              </a:rPr>
              <a:t>Student Name:</a:t>
            </a:r>
            <a:r>
              <a:rPr spc="7" sz="950">
                <a:solidFill>
                  <a:srgbClr val="000000"/>
                </a:solidFill>
                <a:latin typeface="Roboto"/>
              </a:rPr>
              <a:t> Jeyanthi 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6290" y="1616710"/>
            <a:ext cx="1717039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9" b="1" sz="950">
                <a:solidFill>
                  <a:srgbClr val="000000"/>
                </a:solidFill>
                <a:latin typeface="Roboto"/>
              </a:rPr>
              <a:t>Register Number:</a:t>
            </a:r>
            <a:r>
              <a:rPr spc="-3" sz="950">
                <a:solidFill>
                  <a:srgbClr val="000000"/>
                </a:solidFill>
                <a:latin typeface="Roboto"/>
              </a:rPr>
              <a:t> 1921260240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6290" y="1858010"/>
            <a:ext cx="289560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4" b="1" sz="950">
                <a:solidFill>
                  <a:srgbClr val="000000"/>
                </a:solidFill>
                <a:latin typeface="Roboto"/>
              </a:rPr>
              <a:t>Scenario:</a:t>
            </a:r>
            <a:r>
              <a:rPr spc="5" sz="950">
                <a:solidFill>
                  <a:srgbClr val="000000"/>
                </a:solidFill>
                <a:latin typeface="Roboto"/>
              </a:rPr>
              <a:t> Grama Jyothi Rural Electricity Co-operative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6290" y="2255520"/>
            <a:ext cx="173862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0" b="1" sz="1100">
                <a:solidFill>
                  <a:srgbClr val="17365D"/>
                </a:solidFill>
                <a:latin typeface="Roboto"/>
              </a:rPr>
              <a:t>1. Problem Understanding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6290" y="2505710"/>
            <a:ext cx="590677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950">
                <a:solidFill>
                  <a:srgbClr val="000000"/>
                </a:solidFill>
                <a:latin typeface="Roboto"/>
              </a:rPr>
              <a:t>The electricity billing system must calculate a consumer’s bill from the number of units consumed. The first 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6290" y="2661920"/>
            <a:ext cx="5857240" cy="1295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950">
                <a:solidFill>
                  <a:srgbClr val="000000"/>
                </a:solidFill>
                <a:latin typeface="Roboto"/>
              </a:rPr>
              <a:t>units are free. Units from 101 to 200 are charged at </a:t>
            </a:r>
            <a:r>
              <a:rPr spc="461" sz="950">
                <a:solidFill>
                  <a:srgbClr val="000000"/>
                </a:solidFill>
                <a:latin typeface="Roboto"/>
              </a:rPr>
              <a:t>I</a:t>
            </a:r>
            <a:r>
              <a:rPr spc="5" sz="950">
                <a:solidFill>
                  <a:srgbClr val="000000"/>
                </a:solidFill>
                <a:latin typeface="Roboto"/>
              </a:rPr>
              <a:t>2.25 per unit, and units above 200 are charged at </a:t>
            </a:r>
            <a:r>
              <a:rPr spc="461" sz="950">
                <a:solidFill>
                  <a:srgbClr val="000000"/>
                </a:solidFill>
                <a:latin typeface="Roboto"/>
              </a:rPr>
              <a:t>I</a:t>
            </a:r>
            <a:r>
              <a:rPr spc="-1" sz="950">
                <a:solidFill>
                  <a:srgbClr val="000000"/>
                </a:solidFill>
                <a:latin typeface="Roboto"/>
              </a:rPr>
              <a:t>4.50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290" y="2827020"/>
            <a:ext cx="2801620" cy="1295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950">
                <a:solidFill>
                  <a:srgbClr val="000000"/>
                </a:solidFill>
                <a:latin typeface="Roboto"/>
              </a:rPr>
              <a:t>per unit. A fixed charge of </a:t>
            </a:r>
            <a:r>
              <a:rPr spc="461" sz="950">
                <a:solidFill>
                  <a:srgbClr val="000000"/>
                </a:solidFill>
                <a:latin typeface="Roboto"/>
              </a:rPr>
              <a:t>I</a:t>
            </a:r>
            <a:r>
              <a:rPr spc="3" sz="950">
                <a:solidFill>
                  <a:srgbClr val="000000"/>
                </a:solidFill>
                <a:latin typeface="Roboto"/>
              </a:rPr>
              <a:t>50 is added to every bill.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6290" y="3106420"/>
            <a:ext cx="83819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9" b="1" sz="1100">
                <a:solidFill>
                  <a:srgbClr val="17365D"/>
                </a:solidFill>
                <a:latin typeface="Roboto"/>
              </a:rPr>
              <a:t>2. Input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6290" y="3356610"/>
            <a:ext cx="132334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950">
                <a:solidFill>
                  <a:srgbClr val="000000"/>
                </a:solidFill>
                <a:latin typeface="Roboto"/>
              </a:rPr>
              <a:t>• Previous meter reading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6290" y="3521710"/>
            <a:ext cx="125603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950">
                <a:solidFill>
                  <a:srgbClr val="000000"/>
                </a:solidFill>
                <a:latin typeface="Roboto"/>
              </a:rPr>
              <a:t>• Current meter reading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6290" y="3686810"/>
            <a:ext cx="371729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950">
                <a:solidFill>
                  <a:srgbClr val="000000"/>
                </a:solidFill>
                <a:latin typeface="Roboto"/>
              </a:rPr>
              <a:t>• Meter readings are stored as an unsigned 16-bit value (0 to 65,535).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6290" y="3957320"/>
            <a:ext cx="95504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4" b="1" sz="1100">
                <a:solidFill>
                  <a:srgbClr val="17365D"/>
                </a:solidFill>
                <a:latin typeface="Roboto"/>
              </a:rPr>
              <a:t>3. Output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6290" y="4207510"/>
            <a:ext cx="94107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950">
                <a:solidFill>
                  <a:srgbClr val="000000"/>
                </a:solidFill>
                <a:latin typeface="Roboto"/>
              </a:rPr>
              <a:t>• Units consumed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6290" y="4372610"/>
            <a:ext cx="230886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950">
                <a:solidFill>
                  <a:srgbClr val="000000"/>
                </a:solidFill>
                <a:latin typeface="Roboto"/>
              </a:rPr>
              <a:t>• Electricity charge based on the tariff slabs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6290" y="4537710"/>
            <a:ext cx="238887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950">
                <a:solidFill>
                  <a:srgbClr val="000000"/>
                </a:solidFill>
                <a:latin typeface="Roboto"/>
              </a:rPr>
              <a:t>• Final bill amount, including the fixed charge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6290" y="4808220"/>
            <a:ext cx="154432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0" b="1" sz="1100">
                <a:solidFill>
                  <a:srgbClr val="17365D"/>
                </a:solidFill>
                <a:latin typeface="Roboto"/>
              </a:rPr>
              <a:t>4. Constants and Rules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008380" y="5019040"/>
          <a:ext cx="5543549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1980"/>
                <a:gridCol w="3671569"/>
              </a:tblGrid>
              <a:tr h="304800">
                <a:tc>
                  <a:txBody>
                    <a:bodyPr/>
                    <a:lstStyle/>
                    <a:p>
                      <a:pPr>
                        <a:lnSpc>
                          <a:spcPts val="780"/>
                        </a:lnSpc>
                      </a:pPr>
                    </a:p>
                    <a:p>
                      <a:pPr marL="85090" algn="l">
                        <a:lnSpc>
                          <a:spcPts val="900"/>
                        </a:lnSpc>
                      </a:pPr>
                      <a:r>
                        <a:rPr spc="11" b="1" sz="900">
                          <a:solidFill>
                            <a:srgbClr val="17365D"/>
                          </a:solidFill>
                          <a:latin typeface="Roboto"/>
                        </a:rPr>
                        <a:t>Item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eacba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eacba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eacba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eacba">
                          <a:alpha val="100000"/>
                        </a:srgbClr>
                      </a:solidFill>
                    </a:lnB>
                    <a:solidFill>
                      <a:srgbClr val="d8e9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80"/>
                        </a:lnSpc>
                      </a:pPr>
                    </a:p>
                    <a:p>
                      <a:pPr marL="85090" algn="l">
                        <a:lnSpc>
                          <a:spcPts val="900"/>
                        </a:lnSpc>
                      </a:pPr>
                      <a:r>
                        <a:rPr spc="23" b="1" sz="900">
                          <a:solidFill>
                            <a:srgbClr val="17365D"/>
                          </a:solidFill>
                          <a:latin typeface="Roboto"/>
                        </a:rPr>
                        <a:t>Value / Rule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eacba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eacba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eacba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eacba">
                          <a:alpha val="100000"/>
                        </a:srgbClr>
                      </a:solidFill>
                    </a:lnB>
                    <a:solidFill>
                      <a:srgbClr val="d8e9f6">
                        <a:alpha val="100000"/>
                      </a:srgbClr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ts val="770"/>
                        </a:lnSpc>
                      </a:pPr>
                    </a:p>
                    <a:p>
                      <a:pPr marL="85090" algn="l">
                        <a:lnSpc>
                          <a:spcPts val="900"/>
                        </a:lnSpc>
                      </a:pPr>
                      <a:r>
                        <a:rPr spc="2" sz="900">
                          <a:solidFill>
                            <a:srgbClr val="000000"/>
                          </a:solidFill>
                          <a:latin typeface="Roboto"/>
                        </a:rPr>
                        <a:t>Meter reading range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eacba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eacba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eacba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eacba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70"/>
                        </a:lnSpc>
                      </a:pPr>
                    </a:p>
                    <a:p>
                      <a:pPr marL="85090" algn="l">
                        <a:lnSpc>
                          <a:spcPts val="900"/>
                        </a:lnSpc>
                      </a:pPr>
                      <a:r>
                        <a:rPr spc="3" sz="900">
                          <a:solidFill>
                            <a:srgbClr val="000000"/>
                          </a:solidFill>
                          <a:latin typeface="Roboto"/>
                        </a:rPr>
                        <a:t>0 to 65,535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eacba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eacba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eacba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eacba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ts val="770"/>
                        </a:lnSpc>
                      </a:pPr>
                    </a:p>
                    <a:p>
                      <a:pPr marL="85090" algn="l">
                        <a:lnSpc>
                          <a:spcPts val="900"/>
                        </a:lnSpc>
                      </a:pPr>
                      <a:r>
                        <a:rPr spc="10" sz="900">
                          <a:solidFill>
                            <a:srgbClr val="000000"/>
                          </a:solidFill>
                          <a:latin typeface="Roboto"/>
                        </a:rPr>
                        <a:t>Free slab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eacba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eacba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eacba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eacba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70"/>
                        </a:lnSpc>
                      </a:pPr>
                    </a:p>
                    <a:p>
                      <a:pPr marL="85090" algn="l">
                        <a:lnSpc>
                          <a:spcPts val="900"/>
                        </a:lnSpc>
                      </a:pPr>
                      <a:r>
                        <a:rPr spc="-5" sz="900">
                          <a:solidFill>
                            <a:srgbClr val="000000"/>
                          </a:solidFill>
                          <a:latin typeface="Roboto"/>
                        </a:rPr>
                        <a:t>First 100 units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eacba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eacba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eacba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eacba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ts val="770"/>
                        </a:lnSpc>
                      </a:pPr>
                    </a:p>
                    <a:p>
                      <a:pPr marL="85090" algn="l">
                        <a:lnSpc>
                          <a:spcPts val="900"/>
                        </a:lnSpc>
                      </a:pPr>
                      <a:r>
                        <a:rPr spc="7" sz="900">
                          <a:solidFill>
                            <a:srgbClr val="000000"/>
                          </a:solidFill>
                          <a:latin typeface="Roboto"/>
                        </a:rPr>
                        <a:t>Slab 2 rate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eacba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eacba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eacba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eacba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10"/>
                        </a:lnSpc>
                      </a:pPr>
                    </a:p>
                    <a:p>
                      <a:pPr marL="85090" algn="l">
                        <a:lnSpc>
                          <a:spcPts val="960"/>
                        </a:lnSpc>
                      </a:pPr>
                      <a:r>
                        <a:rPr spc="435" sz="900">
                          <a:solidFill>
                            <a:srgbClr val="000000"/>
                          </a:solidFill>
                          <a:latin typeface="Roboto"/>
                        </a:rPr>
                        <a:t>I</a:t>
                      </a:r>
                      <a:r>
                        <a:rPr spc="-6" sz="900">
                          <a:solidFill>
                            <a:srgbClr val="000000"/>
                          </a:solidFill>
                          <a:latin typeface="Roboto"/>
                        </a:rPr>
                        <a:t>2.25 per unit for units 101–200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eacba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eacba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eacba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eacba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ts val="770"/>
                        </a:lnSpc>
                      </a:pPr>
                    </a:p>
                    <a:p>
                      <a:pPr marL="85090" algn="l">
                        <a:lnSpc>
                          <a:spcPts val="900"/>
                        </a:lnSpc>
                      </a:pPr>
                      <a:r>
                        <a:rPr spc="7" sz="900">
                          <a:solidFill>
                            <a:srgbClr val="000000"/>
                          </a:solidFill>
                          <a:latin typeface="Roboto"/>
                        </a:rPr>
                        <a:t>Slab 3 rate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eacba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eacba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eacba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eacba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10"/>
                        </a:lnSpc>
                      </a:pPr>
                    </a:p>
                    <a:p>
                      <a:pPr marL="85090" algn="l">
                        <a:lnSpc>
                          <a:spcPts val="960"/>
                        </a:lnSpc>
                      </a:pPr>
                      <a:r>
                        <a:rPr spc="435" sz="900">
                          <a:solidFill>
                            <a:srgbClr val="000000"/>
                          </a:solidFill>
                          <a:latin typeface="Roboto"/>
                        </a:rPr>
                        <a:t>I</a:t>
                      </a:r>
                      <a:r>
                        <a:rPr spc="-1" sz="900">
                          <a:solidFill>
                            <a:srgbClr val="000000"/>
                          </a:solidFill>
                          <a:latin typeface="Roboto"/>
                        </a:rPr>
                        <a:t>4.50 per unit for units above 200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eacba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eacba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eacba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eacba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ts val="760"/>
                        </a:lnSpc>
                      </a:pPr>
                    </a:p>
                    <a:p>
                      <a:pPr marL="85090" algn="l">
                        <a:lnSpc>
                          <a:spcPts val="900"/>
                        </a:lnSpc>
                      </a:pPr>
                      <a:r>
                        <a:rPr spc="7" sz="900">
                          <a:solidFill>
                            <a:srgbClr val="000000"/>
                          </a:solidFill>
                          <a:latin typeface="Roboto"/>
                        </a:rPr>
                        <a:t>Fixed charge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eacba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eacba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eacba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eacba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00"/>
                        </a:lnSpc>
                      </a:pPr>
                    </a:p>
                    <a:p>
                      <a:pPr marL="85090" algn="l">
                        <a:lnSpc>
                          <a:spcPts val="960"/>
                        </a:lnSpc>
                      </a:pPr>
                      <a:r>
                        <a:rPr spc="435" sz="900">
                          <a:solidFill>
                            <a:srgbClr val="000000"/>
                          </a:solidFill>
                          <a:latin typeface="Roboto"/>
                        </a:rPr>
                        <a:t>I</a:t>
                      </a:r>
                      <a:r>
                        <a:rPr spc="-1" sz="900">
                          <a:solidFill>
                            <a:srgbClr val="000000"/>
                          </a:solidFill>
                          <a:latin typeface="Roboto"/>
                        </a:rPr>
                        <a:t>50.00 per bill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eacba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eacba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eacba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eacba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796290" y="6979920"/>
            <a:ext cx="90042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1" b="1" sz="1100">
                <a:solidFill>
                  <a:srgbClr val="17365D"/>
                </a:solidFill>
                <a:latin typeface="Roboto"/>
              </a:rPr>
              <a:t>5. Data Types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6290" y="7230109"/>
            <a:ext cx="583438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sz="950">
                <a:solidFill>
                  <a:srgbClr val="000000"/>
                </a:solidFill>
                <a:latin typeface="Roboto"/>
              </a:rPr>
              <a:t>Use an unsigned short (or a suitable 16-bit unsigned integer type where available) for meter readings. Use 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6290" y="7395209"/>
            <a:ext cx="586740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950">
                <a:solidFill>
                  <a:srgbClr val="000000"/>
                </a:solidFill>
                <a:latin typeface="Roboto"/>
              </a:rPr>
              <a:t>integer type for the calculated units and a sufficiently large numeric type for the bill calculation. Store money 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6290" y="7560309"/>
            <a:ext cx="491617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950">
                <a:solidFill>
                  <a:srgbClr val="000000"/>
                </a:solidFill>
                <a:latin typeface="Roboto"/>
              </a:rPr>
              <a:t>paise during calculations to avoid floating-point rounding, then display the amount in rupees.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6290" y="7830820"/>
            <a:ext cx="197103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8" b="1" sz="1100">
                <a:solidFill>
                  <a:srgbClr val="17365D"/>
                </a:solidFill>
                <a:latin typeface="Roboto"/>
              </a:rPr>
              <a:t>6. Meter Rollover Assumption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6290" y="8081009"/>
            <a:ext cx="580771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950">
                <a:solidFill>
                  <a:srgbClr val="000000"/>
                </a:solidFill>
                <a:latin typeface="Roboto"/>
              </a:rPr>
              <a:t>If the meter rolls over after reaching 65,535, the consumption is calculated using unsigned 16-bit wraparound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6290" y="8246109"/>
            <a:ext cx="586740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950">
                <a:solidFill>
                  <a:srgbClr val="000000"/>
                </a:solidFill>
                <a:latin typeface="Roboto"/>
              </a:rPr>
              <a:t>arithmetic. For example, a previous reading of 65,400 and a current reading of 120 gives 256 units consumed.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6290" y="8516620"/>
            <a:ext cx="104012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8" b="1" sz="1100">
                <a:solidFill>
                  <a:srgbClr val="17365D"/>
                </a:solidFill>
                <a:latin typeface="Roboto"/>
              </a:rPr>
              <a:t>7. Assumptions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6290" y="8766810"/>
            <a:ext cx="586232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950">
                <a:solidFill>
                  <a:srgbClr val="000000"/>
                </a:solidFill>
                <a:latin typeface="Roboto"/>
              </a:rPr>
              <a:t>• The current reading is normally greater than or equal to the previous reading, unless a meter rollover occurs.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6290" y="8931910"/>
            <a:ext cx="370332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950">
                <a:solidFill>
                  <a:srgbClr val="000000"/>
                </a:solidFill>
                <a:latin typeface="Roboto"/>
              </a:rPr>
              <a:t>• The tariff rates and fixed charge remain constant for this calculation.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6290" y="9088120"/>
            <a:ext cx="3741420" cy="1295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9" sz="950">
                <a:solidFill>
                  <a:srgbClr val="000000"/>
                </a:solidFill>
                <a:latin typeface="Roboto"/>
              </a:rPr>
              <a:t>• The </a:t>
            </a:r>
            <a:r>
              <a:rPr spc="461" sz="950">
                <a:solidFill>
                  <a:srgbClr val="000000"/>
                </a:solidFill>
                <a:latin typeface="Roboto"/>
              </a:rPr>
              <a:t>I</a:t>
            </a:r>
            <a:r>
              <a:rPr spc="1" sz="950">
                <a:solidFill>
                  <a:srgbClr val="000000"/>
                </a:solidFill>
                <a:latin typeface="Roboto"/>
              </a:rPr>
              <a:t>50 fixed charge applies even when the consumer uses 0 units.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6290" y="9367520"/>
            <a:ext cx="76072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1" b="1" sz="1100">
                <a:solidFill>
                  <a:srgbClr val="17365D"/>
                </a:solidFill>
                <a:latin typeface="Roboto"/>
              </a:rPr>
              <a:t>Conclusion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6290" y="9617710"/>
            <a:ext cx="596773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950">
                <a:solidFill>
                  <a:srgbClr val="000000"/>
                </a:solidFill>
                <a:latin typeface="Roboto"/>
              </a:rPr>
              <a:t>The required inputs, outputs, tariff rules, data types, and rollover assumption have been identified. These details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6290" y="9782810"/>
            <a:ext cx="368808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950">
                <a:solidFill>
                  <a:srgbClr val="000000"/>
                </a:solidFill>
                <a:latin typeface="Roboto"/>
              </a:rPr>
              <a:t>can be used to implement and test the electricity billing program in 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